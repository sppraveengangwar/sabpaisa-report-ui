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976D2"/>
                </a:solidFill>
              </a:defRPr>
            </a:pPr>
            <a:r>
              <a:t>SabPaisa Payment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24242"/>
                </a:solidFill>
              </a:defRPr>
            </a:pPr>
            <a:r>
              <a:t>Modern Payment Management System</a:t>
            </a:r>
          </a:p>
          <a:p>
            <a:r>
              <a:t>Comprehensive Team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1. System Overview - Architecture &amp; Key Features</a:t>
            </a:r>
          </a:p>
          <a:p>
            <a:pPr>
              <a:spcAft>
                <a:spcPts val="1200"/>
              </a:spcAft>
              <a:defRPr sz="1800"/>
            </a:pPr>
            <a:r>
              <a:t>2. User Workflows - Login, Dashboard, Transactions, Settlements</a:t>
            </a:r>
          </a:p>
          <a:p>
            <a:pPr>
              <a:spcAft>
                <a:spcPts val="1200"/>
              </a:spcAft>
              <a:defRPr sz="1800"/>
            </a:pPr>
            <a:r>
              <a:t>3. Advanced Features - Analytics, Reports, QwikForms</a:t>
            </a:r>
          </a:p>
          <a:p>
            <a:pPr>
              <a:spcAft>
                <a:spcPts val="1200"/>
              </a:spcAft>
              <a:defRPr sz="1800"/>
            </a:pPr>
            <a:r>
              <a:t>4. Strategic Value - Merchant Benefits &amp; Competitive Advantages</a:t>
            </a:r>
          </a:p>
          <a:p>
            <a:pPr>
              <a:spcAft>
                <a:spcPts val="1200"/>
              </a:spcAft>
              <a:defRPr sz="1800"/>
            </a:pPr>
            <a:r>
              <a:t>5. AI Integration - Future Potential &amp; Innovation</a:t>
            </a:r>
          </a:p>
          <a:p>
            <a:pPr>
              <a:spcAft>
                <a:spcPts val="1200"/>
              </a:spcAft>
              <a:defRPr sz="1800"/>
            </a:pPr>
            <a:r>
              <a:t>6. Technical Excellence - Design Choices &amp; Achievements</a:t>
            </a:r>
          </a:p>
          <a:p>
            <a:pPr>
              <a:spcAft>
                <a:spcPts val="1200"/>
              </a:spcAft>
              <a:defRPr sz="1800"/>
            </a:pPr>
            <a:r>
              <a:t>7. Q&amp;A and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76D2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Frontend:</a:t>
            </a:r>
          </a:p>
          <a:p>
            <a:pPr>
              <a:spcAft>
                <a:spcPts val="800"/>
              </a:spcAft>
              <a:defRPr sz="1400"/>
            </a:pPr>
            <a:r>
              <a:t>• React 19 - Latest version</a:t>
            </a:r>
          </a:p>
          <a:p>
            <a:pPr>
              <a:spcAft>
                <a:spcPts val="800"/>
              </a:spcAft>
              <a:defRPr sz="1400"/>
            </a:pPr>
            <a:r>
              <a:t>• TypeScript 4.9 - Type safety</a:t>
            </a:r>
          </a:p>
          <a:p>
            <a:pPr>
              <a:spcAft>
                <a:spcPts val="800"/>
              </a:spcAft>
              <a:defRPr sz="1400"/>
            </a:pPr>
            <a:r>
              <a:t>• Material-UI v7 - Modern UI</a:t>
            </a:r>
          </a:p>
          <a:p>
            <a:pPr>
              <a:spcAft>
                <a:spcPts val="800"/>
              </a:spcAft>
              <a:defRPr sz="1400"/>
            </a:pPr>
            <a:r>
              <a:t>• TanStack React Query - Data fetching</a:t>
            </a:r>
          </a:p>
          <a:p>
            <a:pPr>
              <a:spcAft>
                <a:spcPts val="800"/>
              </a:spcAft>
              <a:defRPr sz="1400"/>
            </a:pPr>
            <a:r>
              <a:t>• React Router v6 - Navigation</a:t>
            </a:r>
          </a:p>
          <a:p>
            <a:pPr>
              <a:spcAft>
                <a:spcPts val="800"/>
              </a:spcAft>
              <a:defRPr sz="1400"/>
            </a:pPr>
            <a:r>
              <a:t>• Recharts - Visualizations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State Management:</a:t>
            </a:r>
          </a:p>
          <a:p>
            <a:pPr>
              <a:spcAft>
                <a:spcPts val="800"/>
              </a:spcAft>
              <a:defRPr sz="1400"/>
            </a:pPr>
            <a:r>
              <a:t>• Context API - Global state</a:t>
            </a:r>
          </a:p>
          <a:p>
            <a:pPr>
              <a:spcAft>
                <a:spcPts val="800"/>
              </a:spcAft>
              <a:defRPr sz="1400"/>
            </a:pPr>
            <a:r>
              <a:t>• Custom hooks - Reusable logic</a:t>
            </a:r>
          </a:p>
          <a:p>
            <a:pPr>
              <a:spcAft>
                <a:spcPts val="800"/>
              </a:spcAft>
              <a:defRPr sz="1400"/>
            </a:pPr>
            <a:r>
              <a:t>• Local state - Component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Data Handling:</a:t>
            </a:r>
          </a:p>
          <a:p>
            <a:pPr>
              <a:spcAft>
                <a:spcPts val="800"/>
              </a:spcAft>
              <a:defRPr sz="1400"/>
            </a:pPr>
            <a:r>
              <a:t>• Axios - API communication</a:t>
            </a:r>
          </a:p>
          <a:p>
            <a:pPr>
              <a:spcAft>
                <a:spcPts val="800"/>
              </a:spcAft>
              <a:defRPr sz="1400"/>
            </a:pPr>
            <a:r>
              <a:t>• JWT authentication</a:t>
            </a:r>
          </a:p>
          <a:p>
            <a:pPr>
              <a:spcAft>
                <a:spcPts val="800"/>
              </a:spcAft>
              <a:defRPr sz="1400"/>
            </a:pPr>
            <a:r>
              <a:t>• Auto token refresh</a:t>
            </a:r>
          </a:p>
          <a:p>
            <a:pPr>
              <a:spcAft>
                <a:spcPts val="800"/>
              </a:spcAft>
              <a:defRPr sz="1400"/>
            </a:pPr>
            <a:r>
              <a:t>• Rate limit protection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Build &amp; Development:</a:t>
            </a:r>
          </a:p>
          <a:p>
            <a:pPr>
              <a:spcAft>
                <a:spcPts val="800"/>
              </a:spcAft>
              <a:defRPr sz="1400"/>
            </a:pPr>
            <a:r>
              <a:t>• Create React App 5.0</a:t>
            </a:r>
          </a:p>
          <a:p>
            <a:pPr>
              <a:spcAft>
                <a:spcPts val="800"/>
              </a:spcAft>
              <a:defRPr sz="1400"/>
            </a:pPr>
            <a:r>
              <a:t>• Webpack optimization</a:t>
            </a:r>
          </a:p>
          <a:p>
            <a:pPr>
              <a:spcAft>
                <a:spcPts val="800"/>
              </a:spcAft>
              <a:defRPr sz="1400"/>
            </a:pPr>
            <a:r>
              <a:t>• Code splitting</a:t>
            </a:r>
          </a:p>
          <a:p>
            <a:pPr>
              <a:spcAft>
                <a:spcPts val="800"/>
              </a:spcAft>
              <a:defRPr sz="1400"/>
            </a:pPr>
            <a:r>
              <a:t>• Lazy loading</a:t>
            </a:r>
          </a:p>
          <a:p>
            <a:pPr>
              <a:spcAft>
                <a:spcPts val="800"/>
              </a:spcAft>
              <a:defRPr sz="1400"/>
            </a:pPr>
            <a:r>
              <a:t>• 8GB Node heap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Key Features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🔐 Authentication &amp; Security - JWT, Dual login, Auto-refresh</a:t>
            </a:r>
          </a:p>
          <a:p>
            <a:pPr>
              <a:spcAft>
                <a:spcPts val="1200"/>
              </a:spcAft>
              <a:defRPr sz="1800"/>
            </a:pPr>
            <a:r>
              <a:t>📊 Real-time Dashboard - Live metrics, Charts, Recent transactions</a:t>
            </a:r>
          </a:p>
          <a:p>
            <a:pPr>
              <a:spcAft>
                <a:spcPts val="1200"/>
              </a:spcAft>
              <a:defRPr sz="1800"/>
            </a:pPr>
            <a:r>
              <a:t>💳 Transaction Management - Advanced filters, Export, Pagination</a:t>
            </a:r>
          </a:p>
          <a:p>
            <a:pPr>
              <a:spcAft>
                <a:spcPts val="1200"/>
              </a:spcAft>
              <a:defRPr sz="1800"/>
            </a:pPr>
            <a:r>
              <a:t>💰 Settlement Processing - UTR tracking, Reconciliation, Analytics</a:t>
            </a:r>
          </a:p>
          <a:p>
            <a:pPr>
              <a:spcAft>
                <a:spcPts val="1200"/>
              </a:spcAft>
              <a:defRPr sz="1800"/>
            </a:pPr>
            <a:r>
              <a:t>📈 Analytics &amp; Reporting - Trends, Insights, Multiple export formats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76D2"/>
                </a:solidFill>
              </a:defRPr>
            </a:pPr>
            <a:r>
              <a:t>User Login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Dual authentication methods, Modern design, Security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solidFill>
            <a:srgbClr val="DCDCDC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i="1">
                <a:solidFill>
                  <a:srgbClr val="424242"/>
                </a:solidFill>
              </a:defRPr>
            </a:pPr>
            <a:r>
              <a:t>[SCREENSHOT PLACEHOLDER]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LOGIN_PAGE_SCREENSHOT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Show: Username/Master ID tabs, Password field, Remember me, Demo buttons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Capture and insert screenshot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76D2"/>
                </a:solidFill>
              </a:defRPr>
            </a:pPr>
            <a:r>
              <a:t>Dashboard - Merchant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Real-time metrics, Charts, Recent transactions, Quick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solidFill>
            <a:srgbClr val="DCDCDC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i="1">
                <a:solidFill>
                  <a:srgbClr val="424242"/>
                </a:solidFill>
              </a:defRPr>
            </a:pPr>
            <a:r>
              <a:t>[SCREENSHOT PLACEHOLDER]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MERCHANT_DASHBOARD_SCREENSHOT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Show: 4 KPI cards, Area chart, Donut chart, Recent transactions, Quick actions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Capture and insert screenshot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76D2"/>
                </a:solidFill>
              </a:defRPr>
            </a:pPr>
            <a:r>
              <a:t>Transaction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Advanced filtering, Summary cards, Data grid with multiple columns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solidFill>
            <a:srgbClr val="DCDCDC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i="1">
                <a:solidFill>
                  <a:srgbClr val="424242"/>
                </a:solidFill>
              </a:defRPr>
            </a:pPr>
            <a:r>
              <a:t>[SCREENSHOT PLACEHOLDER]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TRANSACTION_LIST_SCREENSHOT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Show: Summary cards, Filters expanded, Data grid with status/payment mode indicators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Capture and insert screenshot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76D2"/>
                </a:solidFill>
              </a:defRPr>
            </a:pPr>
            <a:r>
              <a:t>Settlement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5 summary cards, Filters, Tabs, Settlement-specific columns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solidFill>
            <a:srgbClr val="DCDCDC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i="1">
                <a:solidFill>
                  <a:srgbClr val="424242"/>
                </a:solidFill>
              </a:defRPr>
            </a:pPr>
            <a:r>
              <a:t>[SCREENSHOT PLACEHOLDER]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SETTLEMENT_LIST_SCREENSHOT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Show: Summary cards, Quick filters, Tabs, Data grid with UTR numbers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Capture and insert screenshot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76D2"/>
                </a:solidFill>
              </a:defRPr>
            </a:pPr>
            <a:r>
              <a:t>Analytics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Multiple chart types, Payment mode analytics, Transaction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solidFill>
            <a:srgbClr val="DCDCDC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i="1">
                <a:solidFill>
                  <a:srgbClr val="424242"/>
                </a:solidFill>
              </a:defRPr>
            </a:pPr>
            <a:r>
              <a:t>[SCREENSHOT PLACEHOLDER]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ANALYTICS_DASHBOARD_SCREENSHOT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Show: Multiple charts, Date filters, Different chart types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Capture and insert screenshot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76D2"/>
                </a:solidFill>
              </a:defRPr>
            </a:pPr>
            <a:r>
              <a:t>Report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Report templates, Parameter selection, Export formats, Report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solidFill>
            <a:srgbClr val="DCDCDC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i="1">
                <a:solidFill>
                  <a:srgbClr val="424242"/>
                </a:solidFill>
              </a:defRPr>
            </a:pPr>
            <a:r>
              <a:t>[SCREENSHOT PLACEHOLDER]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REPORT_GENERATION_SCREENSHOT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Show: Report cards, Date range, Format options, Recent reports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Capture and insert screenshot 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76D2"/>
                </a:solidFill>
              </a:defRPr>
            </a:pPr>
            <a:r>
              <a:t>QwikForms Integration (Admin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Separate section for form payments, Transaction tracking,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solidFill>
            <a:srgbClr val="DCDCDC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i="1">
                <a:solidFill>
                  <a:srgbClr val="424242"/>
                </a:solidFill>
              </a:defRPr>
            </a:pPr>
            <a:r>
              <a:t>[SCREENSHOT PLACEHOLDER]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QWIKFORMS_SCREENSHOT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Show: QwikForms menu in sidebar, QwikForms transaction page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Capture and insert screenshot 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76D2"/>
                </a:solidFill>
              </a:defRPr>
            </a:pPr>
            <a:r>
              <a:t>Navigation &amp;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Collapsible sidebar, Hierarchical menu, Theme toggle, Notifications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solidFill>
            <a:srgbClr val="DCDCDC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i="1">
                <a:solidFill>
                  <a:srgbClr val="424242"/>
                </a:solidFill>
              </a:defRPr>
            </a:pPr>
            <a:r>
              <a:t>[SCREENSHOT PLACEHOLDER]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NAVIGATION_SCREENSHOT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Show: Expanded sidebar, Collapsed sidebar, Mobile view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Capture and insert screenshot 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Q1: What does SabPaisa do for Merchants?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1. Real-Time Financial Visibility ⚡</a:t>
            </a:r>
          </a:p>
          <a:p>
            <a:pPr lvl="1">
              <a:spcAft>
                <a:spcPts val="800"/>
              </a:spcAft>
              <a:defRPr sz="1600"/>
            </a:pPr>
            <a:r>
              <a:t>Instant transaction tracking - see every payment as it happens</a:t>
            </a:r>
          </a:p>
          <a:p>
            <a:pPr lvl="1">
              <a:spcAft>
                <a:spcPts val="800"/>
              </a:spcAft>
              <a:defRPr sz="1600"/>
            </a:pPr>
            <a:r>
              <a:t>Live dashboard metrics - revenue, success rates, pending amounts</a:t>
            </a:r>
          </a:p>
          <a:p>
            <a:pPr lvl="1">
              <a:spcAft>
                <a:spcPts val="800"/>
              </a:spcAft>
              <a:defRPr sz="1600"/>
            </a:pPr>
            <a:r>
              <a:t>Auto-refresh every 5 minutes</a:t>
            </a:r>
          </a:p>
          <a:p>
            <a:pPr lvl="1">
              <a:spcAft>
                <a:spcPts val="800"/>
              </a:spcAft>
              <a:defRPr sz="1600"/>
            </a:pPr>
            <a:r>
              <a:t>Impact: Save 2-3 hours daily on manual reconciliation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2. Simplified Settlement Management 💰</a:t>
            </a:r>
          </a:p>
          <a:p>
            <a:pPr lvl="1">
              <a:spcAft>
                <a:spcPts val="800"/>
              </a:spcAft>
              <a:defRPr sz="1600"/>
            </a:pPr>
            <a:r>
              <a:t>Automated settlement tracking - know exactly when you'll get paid</a:t>
            </a:r>
          </a:p>
          <a:p>
            <a:pPr lvl="1">
              <a:spcAft>
                <a:spcPts val="800"/>
              </a:spcAft>
              <a:defRPr sz="1600"/>
            </a:pPr>
            <a:r>
              <a:t>UTR number tracking - match with bank statements instantly</a:t>
            </a:r>
          </a:p>
          <a:p>
            <a:pPr lvl="1">
              <a:spcAft>
                <a:spcPts val="800"/>
              </a:spcAft>
              <a:defRPr sz="1600"/>
            </a:pPr>
            <a:r>
              <a:t>TAT monitoring - optimize cash flow</a:t>
            </a:r>
          </a:p>
          <a:p>
            <a:pPr lvl="1">
              <a:spcAft>
                <a:spcPts val="800"/>
              </a:spcAft>
              <a:defRPr sz="1600"/>
            </a:pPr>
            <a:r>
              <a:t>Impact: Reduce settlement queries by 70%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3. Comprehensive Transaction Insights 📊</a:t>
            </a:r>
          </a:p>
          <a:p>
            <a:pPr lvl="1">
              <a:spcAft>
                <a:spcPts val="800"/>
              </a:spcAft>
              <a:defRPr sz="1600"/>
            </a:pPr>
            <a:r>
              <a:t>Find any transaction in seconds with advanced search</a:t>
            </a:r>
          </a:p>
          <a:p>
            <a:pPr lvl="1">
              <a:spcAft>
                <a:spcPts val="800"/>
              </a:spcAft>
              <a:defRPr sz="1600"/>
            </a:pPr>
            <a:r>
              <a:t>Payment mode analysis - understand customer preferences</a:t>
            </a:r>
          </a:p>
          <a:p>
            <a:pPr lvl="1">
              <a:spcAft>
                <a:spcPts val="800"/>
              </a:spcAft>
              <a:defRPr sz="1600"/>
            </a:pPr>
            <a:r>
              <a:t>Success/failure tracking - identify issues quickly</a:t>
            </a:r>
          </a:p>
          <a:p>
            <a:pPr lvl="1">
              <a:spcAft>
                <a:spcPts val="800"/>
              </a:spcAft>
              <a:defRPr sz="1600"/>
            </a:pPr>
            <a:r>
              <a:t>Impact: Resolve customer queries 5x faster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Q1: Target Merchant Value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4. Effortless Reconciliation ✅</a:t>
            </a:r>
          </a:p>
          <a:p>
            <a:pPr lvl="1">
              <a:spcAft>
                <a:spcPts val="800"/>
              </a:spcAft>
              <a:defRPr sz="1600"/>
            </a:pPr>
            <a:r>
              <a:t>One-click exports - Excel/CSV with all transaction data</a:t>
            </a:r>
          </a:p>
          <a:p>
            <a:pPr lvl="1">
              <a:spcAft>
                <a:spcPts val="800"/>
              </a:spcAft>
              <a:defRPr sz="1600"/>
            </a:pPr>
            <a:r>
              <a:t>Bank reconciliation - match transactions with statements</a:t>
            </a:r>
          </a:p>
          <a:p>
            <a:pPr lvl="1">
              <a:spcAft>
                <a:spcPts val="800"/>
              </a:spcAft>
              <a:defRPr sz="1600"/>
            </a:pPr>
            <a:r>
              <a:t>Automated mismatch detection</a:t>
            </a:r>
          </a:p>
          <a:p>
            <a:pPr lvl="1">
              <a:spcAft>
                <a:spcPts val="800"/>
              </a:spcAft>
              <a:defRPr sz="1600"/>
            </a:pPr>
            <a:r>
              <a:t>GST reports ready for tax compliance</a:t>
            </a:r>
          </a:p>
          <a:p>
            <a:pPr lvl="1">
              <a:spcAft>
                <a:spcPts val="800"/>
              </a:spcAft>
              <a:defRPr sz="1600"/>
            </a:pPr>
            <a:r>
              <a:t>Impact: Reduce month-end from 3 days to 3 hours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5. Business Intelligence 📈</a:t>
            </a:r>
          </a:p>
          <a:p>
            <a:pPr lvl="1">
              <a:spcAft>
                <a:spcPts val="800"/>
              </a:spcAft>
              <a:defRPr sz="1600"/>
            </a:pPr>
            <a:r>
              <a:t>Payment trends - identify peak times and seasons</a:t>
            </a:r>
          </a:p>
          <a:p>
            <a:pPr lvl="1">
              <a:spcAft>
                <a:spcPts val="800"/>
              </a:spcAft>
              <a:defRPr sz="1600"/>
            </a:pPr>
            <a:r>
              <a:t>Success rate analytics - optimize gateway selection</a:t>
            </a:r>
          </a:p>
          <a:p>
            <a:pPr lvl="1">
              <a:spcAft>
                <a:spcPts val="800"/>
              </a:spcAft>
              <a:defRPr sz="1600"/>
            </a:pPr>
            <a:r>
              <a:t>Revenue tracking - compare periods, track growth</a:t>
            </a:r>
          </a:p>
          <a:p>
            <a:pPr lvl="1">
              <a:spcAft>
                <a:spcPts val="800"/>
              </a:spcAft>
              <a:defRPr sz="1600"/>
            </a:pPr>
            <a:r>
              <a:t>Custom reports for business decisions</a:t>
            </a:r>
          </a:p>
          <a:p>
            <a:pPr lvl="1">
              <a:spcAft>
                <a:spcPts val="800"/>
              </a:spcAft>
              <a:defRPr sz="1600"/>
            </a:pPr>
            <a:r>
              <a:t>Impact: Data-driven decisions increase revenue 15-20%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Core Problem Solved:</a:t>
            </a:r>
          </a:p>
          <a:p>
            <a:pPr>
              <a:spcAft>
                <a:spcPts val="800"/>
              </a:spcAft>
              <a:defRPr sz="1600"/>
            </a:pPr>
            <a:r>
              <a:t>Merchants waste 10-15 hours/month on manual tracking. SabPaisa automates 90% of this work!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Q2: What Makes SabPaisa So Awesome?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1. Time Savings = Money Saved ⏰💰</a:t>
            </a:r>
          </a:p>
          <a:p>
            <a:pPr lvl="1">
              <a:spcAft>
                <a:spcPts val="800"/>
              </a:spcAft>
              <a:defRPr sz="1600"/>
            </a:pPr>
            <a:r>
              <a:t>Before: 2-3 hours daily on reconciliation</a:t>
            </a:r>
          </a:p>
          <a:p>
            <a:pPr lvl="1">
              <a:spcAft>
                <a:spcPts val="800"/>
              </a:spcAft>
              <a:defRPr sz="1600"/>
            </a:pPr>
            <a:r>
              <a:t>After: 10 minutes for verification</a:t>
            </a:r>
          </a:p>
          <a:p>
            <a:pPr lvl="1">
              <a:spcAft>
                <a:spcPts val="800"/>
              </a:spcAft>
              <a:defRPr sz="1600"/>
            </a:pPr>
            <a:r>
              <a:t>Savings: 10-15 hours/month = ₹20,000-50,000 saved</a:t>
            </a:r>
          </a:p>
          <a:p>
            <a:pPr lvl="1">
              <a:spcAft>
                <a:spcPts val="800"/>
              </a:spcAft>
              <a:defRPr sz="1600"/>
            </a:pPr>
            <a:r>
              <a:t>ROI: Platform pays for itself in first month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2. Zero Learning Curve 🚀</a:t>
            </a:r>
          </a:p>
          <a:p>
            <a:pPr lvl="1">
              <a:spcAft>
                <a:spcPts val="800"/>
              </a:spcAft>
              <a:defRPr sz="1600"/>
            </a:pPr>
            <a:r>
              <a:t>Intuitive design - no training required</a:t>
            </a:r>
          </a:p>
          <a:p>
            <a:pPr lvl="1">
              <a:spcAft>
                <a:spcPts val="800"/>
              </a:spcAft>
              <a:defRPr sz="1600"/>
            </a:pPr>
            <a:r>
              <a:t>Material Design everyone knows</a:t>
            </a:r>
          </a:p>
          <a:p>
            <a:pPr lvl="1">
              <a:spcAft>
                <a:spcPts val="800"/>
              </a:spcAft>
              <a:defRPr sz="1600"/>
            </a:pPr>
            <a:r>
              <a:t>Built-in help everywhere</a:t>
            </a:r>
          </a:p>
          <a:p>
            <a:pPr lvl="1">
              <a:spcAft>
                <a:spcPts val="800"/>
              </a:spcAft>
              <a:defRPr sz="1600"/>
            </a:pPr>
            <a:r>
              <a:t>Onboard in 15 minutes vs 2-3 days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3. Real-Time Problem Solving 🔥</a:t>
            </a:r>
          </a:p>
          <a:p>
            <a:pPr lvl="1">
              <a:spcAft>
                <a:spcPts val="800"/>
              </a:spcAft>
              <a:defRPr sz="1600"/>
            </a:pPr>
            <a:r>
              <a:t>Instant alerts for failures, chargebacks, refunds</a:t>
            </a:r>
          </a:p>
          <a:p>
            <a:pPr lvl="1">
              <a:spcAft>
                <a:spcPts val="800"/>
              </a:spcAft>
              <a:defRPr sz="1600"/>
            </a:pPr>
            <a:r>
              <a:t>Answer customer queries in real-time</a:t>
            </a:r>
          </a:p>
          <a:p>
            <a:pPr lvl="1">
              <a:spcAft>
                <a:spcPts val="800"/>
              </a:spcAft>
              <a:defRPr sz="1600"/>
            </a:pPr>
            <a:r>
              <a:t>Quick actions - refunds, invoices, receipts</a:t>
            </a:r>
          </a:p>
          <a:p>
            <a:pPr lvl="1">
              <a:spcAft>
                <a:spcPts val="800"/>
              </a:spcAft>
              <a:defRPr sz="1600"/>
            </a:pPr>
            <a:r>
              <a:t>Customer satisfaction increases 40%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Q2: Why Merchants Should Run After SabPaisa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4. Complete Financial Control 🎯</a:t>
            </a:r>
          </a:p>
          <a:p>
            <a:pPr lvl="1">
              <a:spcAft>
                <a:spcPts val="800"/>
              </a:spcAft>
              <a:defRPr sz="1600"/>
            </a:pPr>
            <a:r>
              <a:t>All data in one place</a:t>
            </a:r>
          </a:p>
          <a:p>
            <a:pPr lvl="1">
              <a:spcAft>
                <a:spcPts val="800"/>
              </a:spcAft>
              <a:defRPr sz="1600"/>
            </a:pPr>
            <a:r>
              <a:t>Custom views - filter, sort, export</a:t>
            </a:r>
          </a:p>
          <a:p>
            <a:pPr lvl="1">
              <a:spcAft>
                <a:spcPts val="800"/>
              </a:spcAft>
              <a:defRPr sz="1600"/>
            </a:pPr>
            <a:r>
              <a:t>Historical data - access years instantly</a:t>
            </a:r>
          </a:p>
          <a:p>
            <a:pPr lvl="1">
              <a:spcAft>
                <a:spcPts val="800"/>
              </a:spcAft>
              <a:defRPr sz="1600"/>
            </a:pPr>
            <a:r>
              <a:t>Complete audit trail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5. Scale Without Complexity 📈</a:t>
            </a:r>
          </a:p>
          <a:p>
            <a:pPr lvl="1">
              <a:spcAft>
                <a:spcPts val="800"/>
              </a:spcAft>
              <a:defRPr sz="1600"/>
            </a:pPr>
            <a:r>
              <a:t>Handles 10 to 100,000 transactions/month</a:t>
            </a:r>
          </a:p>
          <a:p>
            <a:pPr lvl="1">
              <a:spcAft>
                <a:spcPts val="800"/>
              </a:spcAft>
              <a:defRPr sz="1600"/>
            </a:pPr>
            <a:r>
              <a:t>Sub-2-second load times guaranteed</a:t>
            </a:r>
          </a:p>
          <a:p>
            <a:pPr lvl="1">
              <a:spcAft>
                <a:spcPts val="800"/>
              </a:spcAft>
              <a:defRPr sz="1600"/>
            </a:pPr>
            <a:r>
              <a:t>Cloud-based, always available</a:t>
            </a:r>
          </a:p>
          <a:p>
            <a:pPr lvl="1">
              <a:spcAft>
                <a:spcPts val="800"/>
              </a:spcAft>
              <a:defRPr sz="1600"/>
            </a:pPr>
            <a:r>
              <a:t>Multi-user team collaboration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6. Predictive Insights (Future AI) 🤖</a:t>
            </a:r>
          </a:p>
          <a:p>
            <a:pPr lvl="1">
              <a:spcAft>
                <a:spcPts val="800"/>
              </a:spcAft>
              <a:defRPr sz="1600"/>
            </a:pPr>
            <a:r>
              <a:t>Cash flow prediction</a:t>
            </a:r>
          </a:p>
          <a:p>
            <a:pPr lvl="1">
              <a:spcAft>
                <a:spcPts val="800"/>
              </a:spcAft>
              <a:defRPr sz="1600"/>
            </a:pPr>
            <a:r>
              <a:t>AI-powered fraud detection</a:t>
            </a:r>
          </a:p>
          <a:p>
            <a:pPr lvl="1">
              <a:spcAft>
                <a:spcPts val="800"/>
              </a:spcAft>
              <a:defRPr sz="1600"/>
            </a:pPr>
            <a:r>
              <a:t>Customer behavior analysis</a:t>
            </a:r>
          </a:p>
          <a:p>
            <a:pPr lvl="1">
              <a:spcAft>
                <a:spcPts val="800"/>
              </a:spcAft>
              <a:defRPr sz="1600"/>
            </a:pPr>
            <a:r>
              <a:t>Auto-optimization suggestions</a:t>
            </a:r>
          </a:p>
          <a:p>
            <a:pPr lvl="1">
              <a:spcAft>
                <a:spcPts val="800"/>
              </a:spcAft>
              <a:defRPr sz="1600"/>
            </a:pPr>
            <a:r>
              <a:t>Increase revenue 10-15%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Q3: What Makes SabPaisa the Best in India?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vs Razorpay Dashboard:</a:t>
            </a:r>
          </a:p>
          <a:p>
            <a:pPr>
              <a:spcAft>
                <a:spcPts val="800"/>
              </a:spcAft>
              <a:defRPr sz="1600"/>
            </a:pPr>
            <a:r>
              <a:t>✅ Complete analytics included (Razorpay charges extra)</a:t>
            </a:r>
          </a:p>
          <a:p>
            <a:pPr>
              <a:spcAft>
                <a:spcPts val="800"/>
              </a:spcAft>
              <a:defRPr sz="1600"/>
            </a:pPr>
            <a:r>
              <a:t>✅ Unlimited exports (Razorpay has limits)</a:t>
            </a:r>
          </a:p>
          <a:p>
            <a:pPr>
              <a:spcAft>
                <a:spcPts val="800"/>
              </a:spcAft>
              <a:defRPr sz="1600"/>
            </a:pPr>
            <a:r>
              <a:t>✅ Better settlement visibility with UTR tracking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vs Paytm/PhonePe Business:</a:t>
            </a:r>
          </a:p>
          <a:p>
            <a:pPr>
              <a:spcAft>
                <a:spcPts val="800"/>
              </a:spcAft>
              <a:defRPr sz="1600"/>
            </a:pPr>
            <a:r>
              <a:t>✅ Full desktop + mobile (they're mobile-first with limited features)</a:t>
            </a:r>
          </a:p>
          <a:p>
            <a:pPr>
              <a:spcAft>
                <a:spcPts val="800"/>
              </a:spcAft>
              <a:defRPr sz="1600"/>
            </a:pPr>
            <a:r>
              <a:t>✅ Advanced filtering and analytics</a:t>
            </a:r>
          </a:p>
          <a:p>
            <a:pPr>
              <a:spcAft>
                <a:spcPts val="800"/>
              </a:spcAft>
              <a:defRPr sz="1600"/>
            </a:pPr>
            <a:r>
              <a:t>✅ Comprehensive reconciliation tools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vs Instamojo:</a:t>
            </a:r>
          </a:p>
          <a:p>
            <a:pPr>
              <a:spcAft>
                <a:spcPts val="800"/>
              </a:spcAft>
              <a:defRPr sz="1600"/>
            </a:pPr>
            <a:r>
              <a:t>✅ B2B + B2C support (they focus on e-commerce only)</a:t>
            </a:r>
          </a:p>
          <a:p>
            <a:pPr>
              <a:spcAft>
                <a:spcPts val="800"/>
              </a:spcAft>
              <a:defRPr sz="1600"/>
            </a:pPr>
            <a:r>
              <a:t>✅ QwikForms for custom use cases</a:t>
            </a:r>
          </a:p>
          <a:p>
            <a:pPr>
              <a:spcAft>
                <a:spcPts val="800"/>
              </a:spcAft>
              <a:defRPr sz="1600"/>
            </a:pPr>
            <a:r>
              <a:t>✅ Multi-format reports (Excel, PDF, CSV)</a:t>
            </a:r>
          </a:p>
          <a:p>
            <a:pPr>
              <a:spcAft>
                <a:spcPts val="800"/>
              </a:spcAft>
              <a:defRPr sz="1600"/>
            </a:pPr>
            <a:r>
              <a:t>✅ Admin portal for aggregators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Q3: Unique Features Nobody Else 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1. QwikForms Integration 📝</a:t>
            </a:r>
          </a:p>
          <a:p>
            <a:pPr lvl="1">
              <a:spcAft>
                <a:spcPts val="800"/>
              </a:spcAft>
              <a:defRPr sz="1600"/>
            </a:pPr>
            <a:r>
              <a:t>Custom payment forms without coding</a:t>
            </a:r>
          </a:p>
          <a:p>
            <a:pPr lvl="1">
              <a:spcAft>
                <a:spcPts val="800"/>
              </a:spcAft>
              <a:defRPr sz="1600"/>
            </a:pPr>
            <a:r>
              <a:t>Form submissions + payment tracking in one place</a:t>
            </a:r>
          </a:p>
          <a:p>
            <a:pPr lvl="1">
              <a:spcAft>
                <a:spcPts val="800"/>
              </a:spcAft>
              <a:defRPr sz="1600"/>
            </a:pPr>
            <a:r>
              <a:t>Perfect for education, events, government fees</a:t>
            </a:r>
          </a:p>
          <a:p>
            <a:pPr lvl="1">
              <a:spcAft>
                <a:spcPts val="800"/>
              </a:spcAft>
              <a:defRPr sz="1600"/>
            </a:pPr>
            <a:r>
              <a:t>NOBODY else offers this level of integration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2. Dual Portal System 👥</a:t>
            </a:r>
          </a:p>
          <a:p>
            <a:pPr lvl="1">
              <a:spcAft>
                <a:spcPts val="800"/>
              </a:spcAft>
              <a:defRPr sz="1600"/>
            </a:pPr>
            <a:r>
              <a:t>Separate optimized views for Admin &amp; Merchant</a:t>
            </a:r>
          </a:p>
          <a:p>
            <a:pPr lvl="1">
              <a:spcAft>
                <a:spcPts val="800"/>
              </a:spcAft>
              <a:defRPr sz="1600"/>
            </a:pPr>
            <a:r>
              <a:t>Admin manages multiple merchants</a:t>
            </a:r>
          </a:p>
          <a:p>
            <a:pPr lvl="1">
              <a:spcAft>
                <a:spcPts val="800"/>
              </a:spcAft>
              <a:defRPr sz="1600"/>
            </a:pPr>
            <a:r>
              <a:t>Role-based feature access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3. Advanced Settlement Analytics 💡</a:t>
            </a:r>
          </a:p>
          <a:p>
            <a:pPr lvl="1">
              <a:spcAft>
                <a:spcPts val="800"/>
              </a:spcAft>
              <a:defRPr sz="1600"/>
            </a:pPr>
            <a:r>
              <a:t>Average TAT tracking</a:t>
            </a:r>
          </a:p>
          <a:p>
            <a:pPr lvl="1">
              <a:spcAft>
                <a:spcPts val="800"/>
              </a:spcAft>
              <a:defRPr sz="1600"/>
            </a:pPr>
            <a:r>
              <a:t>Settlement efficiency metrics</a:t>
            </a:r>
          </a:p>
          <a:p>
            <a:pPr lvl="1">
              <a:spcAft>
                <a:spcPts val="800"/>
              </a:spcAft>
              <a:defRPr sz="1600"/>
            </a:pPr>
            <a:r>
              <a:t>Predictive settlement dates (coming with AI)</a:t>
            </a:r>
          </a:p>
          <a:p>
            <a:pPr lvl="1">
              <a:spcAft>
                <a:spcPts val="800"/>
              </a:spcAft>
              <a:defRPr sz="1600"/>
            </a:pPr>
            <a:r>
              <a:t>Reconciliation mismatch detection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4. Real-Time Rate Limit Protection 🛡️</a:t>
            </a:r>
          </a:p>
          <a:p>
            <a:pPr lvl="1">
              <a:spcAft>
                <a:spcPts val="800"/>
              </a:spcAft>
              <a:defRPr sz="1600"/>
            </a:pPr>
            <a:r>
              <a:t>Auto-retry with smart backoff</a:t>
            </a:r>
          </a:p>
          <a:p>
            <a:pPr lvl="1">
              <a:spcAft>
                <a:spcPts val="800"/>
              </a:spcAft>
              <a:defRPr sz="1600"/>
            </a:pPr>
            <a:r>
              <a:t>Date range optimization</a:t>
            </a:r>
          </a:p>
          <a:p>
            <a:pPr lvl="1">
              <a:spcAft>
                <a:spcPts val="800"/>
              </a:spcAft>
              <a:defRPr sz="1600"/>
            </a:pPr>
            <a:r>
              <a:t>99.9% uptime guaranteed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Q4: AI Magic in SabPaisa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1. Fraud Detection &amp; Prevention 🔒</a:t>
            </a:r>
          </a:p>
          <a:p>
            <a:pPr lvl="1">
              <a:spcAft>
                <a:spcPts val="800"/>
              </a:spcAft>
              <a:defRPr sz="1600"/>
            </a:pPr>
            <a:r>
              <a:t>Real-time anomaly detection with ML</a:t>
            </a:r>
          </a:p>
          <a:p>
            <a:pPr lvl="1">
              <a:spcAft>
                <a:spcPts val="800"/>
              </a:spcAft>
              <a:defRPr sz="1600"/>
            </a:pPr>
            <a:r>
              <a:t>95% fraud detection accuracy</a:t>
            </a:r>
          </a:p>
          <a:p>
            <a:pPr lvl="1">
              <a:spcAft>
                <a:spcPts val="800"/>
              </a:spcAft>
              <a:defRPr sz="1600"/>
            </a:pPr>
            <a:r>
              <a:t>Instant risk assessment (&lt; 100ms)</a:t>
            </a:r>
          </a:p>
          <a:p>
            <a:pPr lvl="1">
              <a:spcAft>
                <a:spcPts val="800"/>
              </a:spcAft>
              <a:defRPr sz="1600"/>
            </a:pPr>
            <a:r>
              <a:t>Reduce fraud losses by 80%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2. Intelligent Reconciliation 🤖</a:t>
            </a:r>
          </a:p>
          <a:p>
            <a:pPr lvl="1">
              <a:spcAft>
                <a:spcPts val="800"/>
              </a:spcAft>
              <a:defRPr sz="1600"/>
            </a:pPr>
            <a:r>
              <a:t>Auto-match bank statements with transactions</a:t>
            </a:r>
          </a:p>
          <a:p>
            <a:pPr lvl="1">
              <a:spcAft>
                <a:spcPts val="800"/>
              </a:spcAft>
              <a:defRPr sz="1600"/>
            </a:pPr>
            <a:r>
              <a:t>AI understands description variations</a:t>
            </a:r>
          </a:p>
          <a:p>
            <a:pPr lvl="1">
              <a:spcAft>
                <a:spcPts val="800"/>
              </a:spcAft>
              <a:defRPr sz="1600"/>
            </a:pPr>
            <a:r>
              <a:t>99% accurate matching</a:t>
            </a:r>
          </a:p>
          <a:p>
            <a:pPr lvl="1">
              <a:spcAft>
                <a:spcPts val="800"/>
              </a:spcAft>
              <a:defRPr sz="1600"/>
            </a:pPr>
            <a:r>
              <a:t>3 hours vs 3 days for month-end close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3. Predictive Analytics 📊</a:t>
            </a:r>
          </a:p>
          <a:p>
            <a:pPr lvl="1">
              <a:spcAft>
                <a:spcPts val="800"/>
              </a:spcAft>
              <a:defRPr sz="1600"/>
            </a:pPr>
            <a:r>
              <a:t>Cash flow forecasting (30-90 days)</a:t>
            </a:r>
          </a:p>
          <a:p>
            <a:pPr lvl="1">
              <a:spcAft>
                <a:spcPts val="800"/>
              </a:spcAft>
              <a:defRPr sz="1600"/>
            </a:pPr>
            <a:r>
              <a:t>Success rate prediction</a:t>
            </a:r>
          </a:p>
          <a:p>
            <a:pPr lvl="1">
              <a:spcAft>
                <a:spcPts val="800"/>
              </a:spcAft>
              <a:defRPr sz="1600"/>
            </a:pPr>
            <a:r>
              <a:t>Customer churn prediction</a:t>
            </a:r>
          </a:p>
          <a:p>
            <a:pPr lvl="1">
              <a:spcAft>
                <a:spcPts val="800"/>
              </a:spcAft>
              <a:defRPr sz="1600"/>
            </a:pPr>
            <a:r>
              <a:t>85-90% forecast accuracy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Q4: More AI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4. Smart Customer Support 💬</a:t>
            </a:r>
          </a:p>
          <a:p>
            <a:pPr lvl="1">
              <a:spcAft>
                <a:spcPts val="800"/>
              </a:spcAft>
              <a:defRPr sz="1600"/>
            </a:pPr>
            <a:r>
              <a:t>AI chatbot for merchant queries</a:t>
            </a:r>
          </a:p>
          <a:p>
            <a:pPr lvl="1">
              <a:spcAft>
                <a:spcPts val="800"/>
              </a:spcAft>
              <a:defRPr sz="1600"/>
            </a:pPr>
            <a:r>
              <a:t>Natural language queries ("Show failed UPI yesterday")</a:t>
            </a:r>
          </a:p>
          <a:p>
            <a:pPr lvl="1">
              <a:spcAft>
                <a:spcPts val="800"/>
              </a:spcAft>
              <a:defRPr sz="1600"/>
            </a:pPr>
            <a:r>
              <a:t>90% query resolution without human</a:t>
            </a:r>
          </a:p>
          <a:p>
            <a:pPr lvl="1">
              <a:spcAft>
                <a:spcPts val="800"/>
              </a:spcAft>
              <a:defRPr sz="1600"/>
            </a:pPr>
            <a:r>
              <a:t>&lt; 5 seconds response time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5. Dynamic Routing Optimization 🎯</a:t>
            </a:r>
          </a:p>
          <a:p>
            <a:pPr lvl="1">
              <a:spcAft>
                <a:spcPts val="800"/>
              </a:spcAft>
              <a:defRPr sz="1600"/>
            </a:pPr>
            <a:r>
              <a:t>AI learns which gateway works best</a:t>
            </a:r>
          </a:p>
          <a:p>
            <a:pPr lvl="1">
              <a:spcAft>
                <a:spcPts val="800"/>
              </a:spcAft>
              <a:defRPr sz="1600"/>
            </a:pPr>
            <a:r>
              <a:t>Real-time routing decisions</a:t>
            </a:r>
          </a:p>
          <a:p>
            <a:pPr lvl="1">
              <a:spcAft>
                <a:spcPts val="800"/>
              </a:spcAft>
              <a:defRPr sz="1600"/>
            </a:pPr>
            <a:r>
              <a:t>Increase success rate by 8-12%</a:t>
            </a:r>
          </a:p>
          <a:p>
            <a:pPr lvl="1">
              <a:spcAft>
                <a:spcPts val="800"/>
              </a:spcAft>
              <a:defRPr sz="1600"/>
            </a:pPr>
            <a:r>
              <a:t>₹50 lakhs - 1 Cr additional revenue annually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6. Automated Report Generation 📄</a:t>
            </a:r>
          </a:p>
          <a:p>
            <a:pPr lvl="1">
              <a:spcAft>
                <a:spcPts val="800"/>
              </a:spcAft>
              <a:defRPr sz="1600"/>
            </a:pPr>
            <a:r>
              <a:t>Natural language report requests</a:t>
            </a:r>
          </a:p>
          <a:p>
            <a:pPr lvl="1">
              <a:spcAft>
                <a:spcPts val="800"/>
              </a:spcAft>
              <a:defRPr sz="1600"/>
            </a:pPr>
            <a:r>
              <a:t>AI generates insights and summaries</a:t>
            </a:r>
          </a:p>
          <a:p>
            <a:pPr lvl="1">
              <a:spcAft>
                <a:spcPts val="800"/>
              </a:spcAft>
              <a:defRPr sz="1600"/>
            </a:pPr>
            <a:r>
              <a:t>Generate reports in seconds vs hours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Combined AI Impact:</a:t>
            </a:r>
          </a:p>
          <a:p>
            <a:pPr lvl="1">
              <a:spcAft>
                <a:spcPts val="800"/>
              </a:spcAft>
              <a:defRPr sz="1600"/>
            </a:pPr>
            <a:r>
              <a:t>Capability: 10x more features</a:t>
            </a:r>
          </a:p>
          <a:p>
            <a:pPr lvl="1">
              <a:spcAft>
                <a:spcPts val="800"/>
              </a:spcAft>
              <a:defRPr sz="1600"/>
            </a:pPr>
            <a:r>
              <a:t>Quality: 99% accuracy vs 95% manual</a:t>
            </a:r>
          </a:p>
          <a:p>
            <a:pPr lvl="1">
              <a:spcAft>
                <a:spcPts val="800"/>
              </a:spcAft>
              <a:defRPr sz="1600"/>
            </a:pPr>
            <a:r>
              <a:t>Speed: Real-time vs hours/days</a:t>
            </a:r>
          </a:p>
          <a:p>
            <a:pPr lvl="1">
              <a:spcAft>
                <a:spcPts val="800"/>
              </a:spcAft>
              <a:defRPr sz="1600"/>
            </a:pPr>
            <a:r>
              <a:t>Cost: 60-70% reduction in ops costs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Q5: What Was Impossible Before?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1. Real-Time Multi-Merchant Dashboard at Scale 🚀</a:t>
            </a:r>
          </a:p>
          <a:p>
            <a:pPr>
              <a:spcAft>
                <a:spcPts val="800"/>
              </a:spcAft>
              <a:defRPr sz="1600"/>
            </a:pPr>
            <a:r>
              <a:t>Challenge: 1000+ concurrent merchants, 10,000+ transactions each</a:t>
            </a:r>
          </a:p>
          <a:p>
            <a:pPr lvl="1">
              <a:spcAft>
                <a:spcPts val="800"/>
              </a:spcAft>
              <a:defRPr sz="1600"/>
            </a:pPr>
            <a:r>
              <a:t>Impossible due to browser memory limits, API rate limiting</a:t>
            </a:r>
          </a:p>
          <a:p>
            <a:pPr lvl="1">
              <a:spcAft>
                <a:spcPts val="800"/>
              </a:spcAft>
              <a:defRPr sz="1600"/>
            </a:pPr>
            <a:r>
              <a:t>Made possible with:</a:t>
            </a:r>
          </a:p>
          <a:p>
            <a:pPr>
              <a:spcAft>
                <a:spcPts val="800"/>
              </a:spcAft>
              <a:defRPr sz="1600"/>
            </a:pPr>
            <a:r>
              <a:t>  • 8GB Node heap, Virtual scrolling</a:t>
            </a:r>
          </a:p>
          <a:p>
            <a:pPr>
              <a:spcAft>
                <a:spcPts val="800"/>
              </a:spcAft>
              <a:defRPr sz="1600"/>
            </a:pPr>
            <a:r>
              <a:t>  • React Query caching, Server-side pagination</a:t>
            </a:r>
          </a:p>
          <a:p>
            <a:pPr>
              <a:spcAft>
                <a:spcPts val="800"/>
              </a:spcAft>
              <a:defRPr sz="1600"/>
            </a:pPr>
            <a:r>
              <a:t>  • Web Workers for heavy calculations</a:t>
            </a:r>
          </a:p>
          <a:p>
            <a:pPr lvl="1">
              <a:spcAft>
                <a:spcPts val="800"/>
              </a:spcAft>
              <a:defRPr sz="1600"/>
            </a:pPr>
            <a:r>
              <a:t>Result: 100,000+ transactions, sub-2-second loads, 60 FPS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2. Zero-Downtime Export of Massive Datasets 📥</a:t>
            </a:r>
          </a:p>
          <a:p>
            <a:pPr>
              <a:spcAft>
                <a:spcPts val="800"/>
              </a:spcAft>
              <a:defRPr sz="1600"/>
            </a:pPr>
            <a:r>
              <a:t>Challenge: Export 100,000+ records without freezing UI</a:t>
            </a:r>
          </a:p>
          <a:p>
            <a:pPr lvl="1">
              <a:spcAft>
                <a:spcPts val="800"/>
              </a:spcAft>
              <a:defRPr sz="1600"/>
            </a:pPr>
            <a:r>
              <a:t>Impossible due to timeouts, memory overflow, rate limits</a:t>
            </a:r>
          </a:p>
          <a:p>
            <a:pPr lvl="1">
              <a:spcAft>
                <a:spcPts val="800"/>
              </a:spcAft>
              <a:defRPr sz="1600"/>
            </a:pPr>
            <a:r>
              <a:t>Made possible with:</a:t>
            </a:r>
          </a:p>
          <a:p>
            <a:pPr>
              <a:spcAft>
                <a:spcPts val="800"/>
              </a:spcAft>
              <a:defRPr sz="1600"/>
            </a:pPr>
            <a:r>
              <a:t>  • Background task processing</a:t>
            </a:r>
          </a:p>
          <a:p>
            <a:pPr>
              <a:spcAft>
                <a:spcPts val="800"/>
              </a:spcAft>
              <a:defRPr sz="1600"/>
            </a:pPr>
            <a:r>
              <a:t>  • Chunked API calls, Stream-based Excel generation</a:t>
            </a:r>
          </a:p>
          <a:p>
            <a:pPr>
              <a:spcAft>
                <a:spcPts val="800"/>
              </a:spcAft>
              <a:defRPr sz="1600"/>
            </a:pPr>
            <a:r>
              <a:t>  • Rate limit intelligence with auto-retry</a:t>
            </a:r>
          </a:p>
          <a:p>
            <a:pPr lvl="1">
              <a:spcAft>
                <a:spcPts val="800"/>
              </a:spcAft>
              <a:defRPr sz="1600"/>
            </a:pPr>
            <a:r>
              <a:t>Result: Export 1 million records without issues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Q5: More Impossible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3. Intelligent Token Refresh Without Disruption 🔐</a:t>
            </a:r>
          </a:p>
          <a:p>
            <a:pPr>
              <a:spcAft>
                <a:spcPts val="800"/>
              </a:spcAft>
              <a:defRPr sz="1600"/>
            </a:pPr>
            <a:r>
              <a:t>Challenge: 24-hour token expiry without user interruption</a:t>
            </a:r>
          </a:p>
          <a:p>
            <a:pPr lvl="1">
              <a:spcAft>
                <a:spcPts val="800"/>
              </a:spcAft>
              <a:defRPr sz="1600"/>
            </a:pPr>
            <a:r>
              <a:t>Made possible with:</a:t>
            </a:r>
          </a:p>
          <a:p>
            <a:pPr>
              <a:spcAft>
                <a:spcPts val="800"/>
              </a:spcAft>
              <a:defRPr sz="1600"/>
            </a:pPr>
            <a:r>
              <a:t>  • Axios interceptors, Request queuing</a:t>
            </a:r>
          </a:p>
          <a:p>
            <a:pPr>
              <a:spcAft>
                <a:spcPts val="800"/>
              </a:spcAft>
              <a:defRPr sz="1600"/>
            </a:pPr>
            <a:r>
              <a:t>  • Atomic token update, Retry original request</a:t>
            </a:r>
          </a:p>
          <a:p>
            <a:pPr lvl="1">
              <a:spcAft>
                <a:spcPts val="800"/>
              </a:spcAft>
              <a:defRPr sz="1600"/>
            </a:pPr>
            <a:r>
              <a:t>Result: Zero interruptions, no data loss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4. Real-Time Settlement Reconciliation 💰</a:t>
            </a:r>
          </a:p>
          <a:p>
            <a:pPr>
              <a:spcAft>
                <a:spcPts val="800"/>
              </a:spcAft>
              <a:defRPr sz="1600"/>
            </a:pPr>
            <a:r>
              <a:t>Challenge: Match 50,000+ transactions with bank statements</a:t>
            </a:r>
          </a:p>
          <a:p>
            <a:pPr lvl="1">
              <a:spcAft>
                <a:spcPts val="800"/>
              </a:spcAft>
              <a:defRPr sz="1600"/>
            </a:pPr>
            <a:r>
              <a:t>Made possible with:</a:t>
            </a:r>
          </a:p>
          <a:p>
            <a:pPr>
              <a:spcAft>
                <a:spcPts val="800"/>
              </a:spcAft>
              <a:defRPr sz="1600"/>
            </a:pPr>
            <a:r>
              <a:t>  • Smart matching algorithm, Confidence scoring</a:t>
            </a:r>
          </a:p>
          <a:p>
            <a:pPr>
              <a:spcAft>
                <a:spcPts val="800"/>
              </a:spcAft>
              <a:defRPr sz="1600"/>
            </a:pPr>
            <a:r>
              <a:t>  • UTR number tracking, Real-time processing</a:t>
            </a:r>
          </a:p>
          <a:p>
            <a:pPr lvl="1">
              <a:spcAft>
                <a:spcPts val="800"/>
              </a:spcAft>
              <a:defRPr sz="1600"/>
            </a:pPr>
            <a:r>
              <a:t>Result: 95% auto-match, 3 hours vs 3 days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5. Type-Safe Dynamic API Responses 🛡️</a:t>
            </a:r>
          </a:p>
          <a:p>
            <a:pPr>
              <a:spcAft>
                <a:spcPts val="800"/>
              </a:spcAft>
              <a:defRPr sz="1600"/>
            </a:pPr>
            <a:r>
              <a:t>Challenge: Handle inconsistent API types safely</a:t>
            </a:r>
          </a:p>
          <a:p>
            <a:pPr lvl="1">
              <a:spcAft>
                <a:spcPts val="800"/>
              </a:spcAft>
              <a:defRPr sz="1600"/>
            </a:pPr>
            <a:r>
              <a:t>Made possible with:</a:t>
            </a:r>
          </a:p>
          <a:p>
            <a:pPr>
              <a:spcAft>
                <a:spcPts val="800"/>
              </a:spcAft>
              <a:defRPr sz="1600"/>
            </a:pPr>
            <a:r>
              <a:t>  • Smart type guards, Data normalization</a:t>
            </a:r>
          </a:p>
          <a:p>
            <a:pPr>
              <a:spcAft>
                <a:spcPts val="800"/>
              </a:spcAft>
              <a:defRPr sz="1600"/>
            </a:pPr>
            <a:r>
              <a:t>  • TypeScript 4.9 advanced features</a:t>
            </a:r>
          </a:p>
          <a:p>
            <a:pPr lvl="1">
              <a:spcAft>
                <a:spcPts val="800"/>
              </a:spcAft>
              <a:defRPr sz="1600"/>
            </a:pPr>
            <a:r>
              <a:t>Result: Zero runtime type errors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Q6: Why These Technologies?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React 19 ⚛️</a:t>
            </a:r>
          </a:p>
          <a:p>
            <a:pPr>
              <a:spcAft>
                <a:spcPts val="800"/>
              </a:spcAft>
              <a:defRPr sz="1600"/>
            </a:pPr>
            <a:r>
              <a:t>✅ Component-based, maintainable code</a:t>
            </a:r>
          </a:p>
          <a:p>
            <a:pPr>
              <a:spcAft>
                <a:spcPts val="800"/>
              </a:spcAft>
              <a:defRPr sz="1600"/>
            </a:pPr>
            <a:r>
              <a:t>✅ Virtual DOM for fast updates</a:t>
            </a:r>
          </a:p>
          <a:p>
            <a:pPr>
              <a:spcAft>
                <a:spcPts val="800"/>
              </a:spcAft>
              <a:defRPr sz="1600"/>
            </a:pPr>
            <a:r>
              <a:t>✅ Huge ecosystem, large talent pool</a:t>
            </a:r>
          </a:p>
          <a:p>
            <a:pPr>
              <a:spcAft>
                <a:spcPts val="800"/>
              </a:spcAft>
              <a:defRPr sz="1600"/>
            </a:pPr>
            <a:r>
              <a:t>✅ Latest features (Suspense, better performance)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TypeScript 📘</a:t>
            </a:r>
          </a:p>
          <a:p>
            <a:pPr>
              <a:spcAft>
                <a:spcPts val="800"/>
              </a:spcAft>
              <a:defRPr sz="1600"/>
            </a:pPr>
            <a:r>
              <a:t>✅ Catch errors before runtime</a:t>
            </a:r>
          </a:p>
          <a:p>
            <a:pPr>
              <a:spcAft>
                <a:spcPts val="800"/>
              </a:spcAft>
              <a:defRPr sz="1600"/>
            </a:pPr>
            <a:r>
              <a:t>✅ Better IDE support (autocomplete, refactoring)</a:t>
            </a:r>
          </a:p>
          <a:p>
            <a:pPr>
              <a:spcAft>
                <a:spcPts val="800"/>
              </a:spcAft>
              <a:defRPr sz="1600"/>
            </a:pPr>
            <a:r>
              <a:t>✅ Self-documenting code</a:t>
            </a:r>
          </a:p>
          <a:p>
            <a:pPr>
              <a:spcAft>
                <a:spcPts val="800"/>
              </a:spcAft>
              <a:defRPr sz="1600"/>
            </a:pPr>
            <a:r>
              <a:t>✅ 15% faster development, 40% fewer bugs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Material-UI v7 🎨</a:t>
            </a:r>
          </a:p>
          <a:p>
            <a:pPr>
              <a:spcAft>
                <a:spcPts val="800"/>
              </a:spcAft>
              <a:defRPr sz="1600"/>
            </a:pPr>
            <a:r>
              <a:t>✅ 50+ pre-built components</a:t>
            </a:r>
          </a:p>
          <a:p>
            <a:pPr>
              <a:spcAft>
                <a:spcPts val="800"/>
              </a:spcAft>
              <a:defRPr sz="1600"/>
            </a:pPr>
            <a:r>
              <a:t>✅ Google's Material Design</a:t>
            </a:r>
          </a:p>
          <a:p>
            <a:pPr>
              <a:spcAft>
                <a:spcPts val="800"/>
              </a:spcAft>
              <a:defRPr sz="1600"/>
            </a:pPr>
            <a:r>
              <a:t>✅ WCAG AA accessibility built-in</a:t>
            </a:r>
          </a:p>
          <a:p>
            <a:pPr>
              <a:spcAft>
                <a:spcPts val="800"/>
              </a:spcAft>
              <a:defRPr sz="1600"/>
            </a:pPr>
            <a:r>
              <a:t>✅ Dark/Light mode, responsive by default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Q6: Design Choices Justified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TanStack React Query 🔄</a:t>
            </a:r>
          </a:p>
          <a:p>
            <a:pPr>
              <a:spcAft>
                <a:spcPts val="800"/>
              </a:spcAft>
              <a:defRPr sz="1600"/>
            </a:pPr>
            <a:r>
              <a:t>✅ Smart caching, auto-refetch</a:t>
            </a:r>
          </a:p>
          <a:p>
            <a:pPr>
              <a:spcAft>
                <a:spcPts val="800"/>
              </a:spcAft>
              <a:defRPr sz="1600"/>
            </a:pPr>
            <a:r>
              <a:t>✅ Built-in loading/error states</a:t>
            </a:r>
          </a:p>
          <a:p>
            <a:pPr>
              <a:spcAft>
                <a:spcPts val="800"/>
              </a:spcAft>
              <a:defRPr sz="1600"/>
            </a:pPr>
            <a:r>
              <a:t>✅ Optimistic updates for instant feedback</a:t>
            </a:r>
          </a:p>
          <a:p>
            <a:pPr>
              <a:spcAft>
                <a:spcPts val="800"/>
              </a:spcAft>
              <a:defRPr sz="1600"/>
            </a:pPr>
            <a:r>
              <a:t>✅ Better than Redux for server state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Axios 🌐</a:t>
            </a:r>
          </a:p>
          <a:p>
            <a:pPr>
              <a:spcAft>
                <a:spcPts val="800"/>
              </a:spcAft>
              <a:defRPr sz="1600"/>
            </a:pPr>
            <a:r>
              <a:t>✅ Request/Response interceptors</a:t>
            </a:r>
          </a:p>
          <a:p>
            <a:pPr>
              <a:spcAft>
                <a:spcPts val="800"/>
              </a:spcAft>
              <a:defRPr sz="1600"/>
            </a:pPr>
            <a:r>
              <a:t>✅ Auto JSON parsing</a:t>
            </a:r>
          </a:p>
          <a:p>
            <a:pPr>
              <a:spcAft>
                <a:spcPts val="800"/>
              </a:spcAft>
              <a:defRPr sz="1600"/>
            </a:pPr>
            <a:r>
              <a:t>✅ Consistent error handling</a:t>
            </a:r>
          </a:p>
          <a:p>
            <a:pPr>
              <a:spcAft>
                <a:spcPts val="800"/>
              </a:spcAft>
              <a:defRPr sz="1600"/>
            </a:pPr>
            <a:r>
              <a:t>✅ Better than Fetch API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Architecture Decisions:</a:t>
            </a:r>
          </a:p>
          <a:p>
            <a:pPr>
              <a:spcAft>
                <a:spcPts val="800"/>
              </a:spcAft>
              <a:defRPr sz="1600"/>
            </a:pPr>
            <a:r>
              <a:t>✅ React Query for server state (not Redux)</a:t>
            </a:r>
          </a:p>
          <a:p>
            <a:pPr>
              <a:spcAft>
                <a:spcPts val="800"/>
              </a:spcAft>
              <a:defRPr sz="1600"/>
            </a:pPr>
            <a:r>
              <a:t>✅ Context for Auth/Theme (global UI state)</a:t>
            </a:r>
          </a:p>
          <a:p>
            <a:pPr>
              <a:spcAft>
                <a:spcPts val="800"/>
              </a:spcAft>
              <a:defRPr sz="1600"/>
            </a:pPr>
            <a:r>
              <a:t>✅ Local state for forms (component-specific)</a:t>
            </a:r>
          </a:p>
          <a:p>
            <a:pPr>
              <a:spcAft>
                <a:spcPts val="800"/>
              </a:spcAft>
              <a:defRPr sz="1600"/>
            </a:pPr>
            <a:r>
              <a:t>✅ Feature-based code organization</a:t>
            </a:r>
          </a:p>
          <a:p>
            <a:pPr>
              <a:spcAft>
                <a:spcPts val="800"/>
              </a:spcAft>
              <a:defRPr sz="1600"/>
            </a:pPr>
            <a:r>
              <a:t>✅ Lazy loading &amp; code splitting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000" b="1">
                <a:solidFill>
                  <a:srgbClr val="DC004E"/>
                </a:solidFill>
              </a:defRPr>
            </a:pPr>
            <a:r>
              <a:t>These choices are right because:</a:t>
            </a:r>
          </a:p>
          <a:p>
            <a:pPr>
              <a:spcAft>
                <a:spcPts val="800"/>
              </a:spcAft>
              <a:defRPr sz="1600"/>
            </a:pPr>
            <a:r>
              <a:t>Proven at scale, active communities, future-proof, best balance of power and simplicity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Key Metrics &amp;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📝 Codebase: 13,000+ lines of code, 50+ components</a:t>
            </a:r>
          </a:p>
          <a:p>
            <a:pPr>
              <a:spcAft>
                <a:spcPts val="1200"/>
              </a:spcAft>
              <a:defRPr sz="1800"/>
            </a:pPr>
            <a:r>
              <a:t>⚡ Performance: &lt; 2s page load, &lt; 500ms API response</a:t>
            </a:r>
          </a:p>
          <a:p>
            <a:pPr>
              <a:spcAft>
                <a:spcPts val="1200"/>
              </a:spcAft>
              <a:defRPr sz="1800"/>
            </a:pPr>
            <a:r>
              <a:t>📊 Scale: 100,000+ records, 1000+ concurrent users</a:t>
            </a:r>
          </a:p>
          <a:p>
            <a:pPr>
              <a:spcAft>
                <a:spcPts val="1200"/>
              </a:spcAft>
              <a:defRPr sz="1800"/>
            </a:pPr>
            <a:r>
              <a:t>✅ Quality: Zero runtime errors, WCAG AA compliant</a:t>
            </a:r>
          </a:p>
          <a:p>
            <a:pPr>
              <a:spcAft>
                <a:spcPts val="1200"/>
              </a:spcAft>
              <a:defRPr sz="1800"/>
            </a:pPr>
            <a:r>
              <a:t>🎯 Developer Experience: 15-min onboarding, Type-safe APIs</a:t>
            </a:r>
          </a:p>
          <a:p>
            <a:pPr>
              <a:spcAft>
                <a:spcPts val="1200"/>
              </a:spcAft>
              <a:defRPr sz="1800"/>
            </a:pPr>
            <a:r>
              <a:t>🚀 Impact: Save merchants 10-15 hours/month</a:t>
            </a:r>
          </a:p>
          <a:p>
            <a:pPr>
              <a:spcAft>
                <a:spcPts val="1200"/>
              </a:spcAft>
              <a:defRPr sz="1800"/>
            </a:pPr>
            <a:r>
              <a:t>💰 ROI: Platform pays for itself in first month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76D2"/>
                </a:solidFill>
              </a:defRPr>
            </a:pPr>
            <a:r>
              <a:t>Mobile Responsive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Works seamlessly on all devices - Mobile, Tablet, Desktop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solidFill>
            <a:srgbClr val="DCDCDC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i="1">
                <a:solidFill>
                  <a:srgbClr val="424242"/>
                </a:solidFill>
              </a:defRPr>
            </a:pPr>
            <a:r>
              <a:t>[SCREENSHOT PLACEHOLDER]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MOBILE_RESPONSIVE_SCREENSHOT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Show: Same page on mobile, tablet, desktop side-by-side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Capture and insert screenshot here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76D2"/>
                </a:solidFill>
              </a:defRPr>
            </a:pPr>
            <a:r>
              <a:t>Theme Support - Light &amp; Dark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Toggle between light and dark themes with one click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solidFill>
            <a:srgbClr val="DCDCDC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i="1">
                <a:solidFill>
                  <a:srgbClr val="424242"/>
                </a:solidFill>
              </a:defRPr>
            </a:pPr>
            <a:r>
              <a:t>[SCREENSHOT PLACEHOLDER]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DARK_MODE_SCREENSHOT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Show: Dashboard in dark theme, theme toggle button</a:t>
            </a:r>
          </a:p>
          <a:p>
            <a:pPr algn="ctr">
              <a:defRPr sz="2000" i="1">
                <a:solidFill>
                  <a:srgbClr val="424242"/>
                </a:solidFill>
              </a:defRPr>
            </a:pPr>
          </a:p>
          <a:p>
            <a:pPr algn="ctr">
              <a:defRPr sz="2000" i="1">
                <a:solidFill>
                  <a:srgbClr val="424242"/>
                </a:solidFill>
              </a:defRPr>
            </a:pPr>
            <a:r>
              <a:t>Capture and insert screenshot here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76D2"/>
                </a:solidFill>
              </a:defRPr>
            </a:pPr>
            <a:r>
              <a:t>Future Roadmap &amp;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Q1 2026:</a:t>
            </a:r>
          </a:p>
          <a:p>
            <a:pPr>
              <a:spcAft>
                <a:spcPts val="800"/>
              </a:spcAft>
              <a:defRPr sz="1400"/>
            </a:pPr>
            <a:r>
              <a:t>• AI-Powered Fraud Detection</a:t>
            </a:r>
          </a:p>
          <a:p>
            <a:pPr>
              <a:spcAft>
                <a:spcPts val="800"/>
              </a:spcAft>
              <a:defRPr sz="1400"/>
            </a:pPr>
            <a:r>
              <a:t>• Multi-Language Support</a:t>
            </a:r>
          </a:p>
          <a:p>
            <a:pPr>
              <a:spcAft>
                <a:spcPts val="800"/>
              </a:spcAft>
              <a:defRPr sz="1400"/>
            </a:pPr>
            <a:r>
              <a:t>• WhatsApp Integration</a:t>
            </a:r>
          </a:p>
          <a:p>
            <a:pPr>
              <a:spcAft>
                <a:spcPts val="800"/>
              </a:spcAft>
              <a:defRPr sz="1400"/>
            </a:pPr>
            <a:r>
              <a:t>• Voice Commands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Q2 2026:</a:t>
            </a:r>
          </a:p>
          <a:p>
            <a:pPr>
              <a:spcAft>
                <a:spcPts val="800"/>
              </a:spcAft>
              <a:defRPr sz="1400"/>
            </a:pPr>
            <a:r>
              <a:t>• Mobile App (iOS &amp; Android)</a:t>
            </a:r>
          </a:p>
          <a:p>
            <a:pPr>
              <a:spcAft>
                <a:spcPts val="800"/>
              </a:spcAft>
              <a:defRPr sz="1400"/>
            </a:pPr>
            <a:r>
              <a:t>• Blockchain Settlement Verification</a:t>
            </a:r>
          </a:p>
          <a:p>
            <a:pPr>
              <a:spcAft>
                <a:spcPts val="800"/>
              </a:spcAft>
              <a:defRPr sz="1400"/>
            </a:pPr>
            <a:r>
              <a:t>• Advanced Bank API Reconciliation</a:t>
            </a:r>
          </a:p>
          <a:p>
            <a:pPr>
              <a:spcAft>
                <a:spcPts val="800"/>
              </a:spcAft>
              <a:defRPr sz="1400"/>
            </a:pPr>
            <a:r>
              <a:t>• Predictive Cash Flow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Q3 2026:</a:t>
            </a:r>
          </a:p>
          <a:p>
            <a:pPr>
              <a:spcAft>
                <a:spcPts val="800"/>
              </a:spcAft>
              <a:defRPr sz="1400"/>
            </a:pPr>
            <a:r>
              <a:t>• Custom Dashboard Widgets</a:t>
            </a:r>
          </a:p>
          <a:p>
            <a:pPr>
              <a:spcAft>
                <a:spcPts val="800"/>
              </a:spcAft>
              <a:defRPr sz="1400"/>
            </a:pPr>
            <a:r>
              <a:t>• Advanced Notification System</a:t>
            </a:r>
          </a:p>
          <a:p>
            <a:pPr>
              <a:spcAft>
                <a:spcPts val="800"/>
              </a:spcAft>
              <a:defRPr sz="1400"/>
            </a:pPr>
            <a:r>
              <a:t>• Webhook Integrations</a:t>
            </a:r>
          </a:p>
          <a:p>
            <a:pPr>
              <a:spcAft>
                <a:spcPts val="800"/>
              </a:spcAft>
              <a:defRPr sz="1400"/>
            </a:pPr>
            <a:r>
              <a:t>• Batch Processing Improvements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Q4 2026:</a:t>
            </a:r>
          </a:p>
          <a:p>
            <a:pPr>
              <a:spcAft>
                <a:spcPts val="800"/>
              </a:spcAft>
              <a:defRPr sz="1400"/>
            </a:pPr>
            <a:r>
              <a:t>• AI Chatbot Support</a:t>
            </a:r>
          </a:p>
          <a:p>
            <a:pPr>
              <a:spcAft>
                <a:spcPts val="800"/>
              </a:spcAft>
              <a:defRPr sz="1400"/>
            </a:pPr>
            <a:r>
              <a:t>• Natural Language Queries</a:t>
            </a:r>
          </a:p>
          <a:p>
            <a:pPr>
              <a:spcAft>
                <a:spcPts val="800"/>
              </a:spcAft>
              <a:defRPr sz="1400"/>
            </a:pPr>
            <a:r>
              <a:t>• Automated Optimization</a:t>
            </a:r>
          </a:p>
          <a:p>
            <a:pPr>
              <a:spcAft>
                <a:spcPts val="800"/>
              </a:spcAft>
              <a:defRPr sz="1400"/>
            </a:pPr>
            <a:r>
              <a:t>• Enhanced Security Features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Live Demo Flow (7-8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1. Login (30s) - Show both authentication methods</a:t>
            </a:r>
          </a:p>
          <a:p>
            <a:pPr>
              <a:spcAft>
                <a:spcPts val="1200"/>
              </a:spcAft>
              <a:defRPr sz="1800"/>
            </a:pPr>
            <a:r>
              <a:t>2. Dashboard (1m) - Highlight KPIs, charts, recent transactions</a:t>
            </a:r>
          </a:p>
          <a:p>
            <a:pPr>
              <a:spcAft>
                <a:spcPts val="1200"/>
              </a:spcAft>
              <a:defRPr sz="1800"/>
            </a:pPr>
            <a:r>
              <a:t>3. Transactions (2m) - Apply filters, search, sort, export</a:t>
            </a:r>
          </a:p>
          <a:p>
            <a:pPr>
              <a:spcAft>
                <a:spcPts val="1200"/>
              </a:spcAft>
              <a:defRPr sz="1800"/>
            </a:pPr>
            <a:r>
              <a:t>4. Settlements (1m) - Show summary, filters, UTR tracking</a:t>
            </a:r>
          </a:p>
          <a:p>
            <a:pPr>
              <a:spcAft>
                <a:spcPts val="1200"/>
              </a:spcAft>
              <a:defRPr sz="1800"/>
            </a:pPr>
            <a:r>
              <a:t>5. Analytics (1m) - Different chart types, date ranges</a:t>
            </a:r>
          </a:p>
          <a:p>
            <a:pPr>
              <a:spcAft>
                <a:spcPts val="1200"/>
              </a:spcAft>
              <a:defRPr sz="1800"/>
            </a:pPr>
            <a:r>
              <a:t>6. Reports (30s) - Select type, generate report</a:t>
            </a:r>
          </a:p>
          <a:p>
            <a:pPr>
              <a:spcAft>
                <a:spcPts val="1200"/>
              </a:spcAft>
              <a:defRPr sz="1800"/>
            </a:pPr>
            <a:r>
              <a:t>7. Admin Features (if time) - QwikForms, merchant management</a:t>
            </a:r>
          </a:p>
          <a:p>
            <a:pPr>
              <a:spcAft>
                <a:spcPts val="1200"/>
              </a:spcAft>
              <a:defRPr sz="1800"/>
            </a:pPr>
            <a:r>
              <a:t>8. Mobile (30s) - Responsive design demonstration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✅ Solves real merchant pain points (10-15 hours/month saved)</a:t>
            </a:r>
          </a:p>
          <a:p>
            <a:pPr>
              <a:spcAft>
                <a:spcPts val="1200"/>
              </a:spcAft>
              <a:defRPr sz="1800"/>
            </a:pPr>
            <a:r>
              <a:t>✅ Better than competitors (unique features, superior UX)</a:t>
            </a:r>
          </a:p>
          <a:p>
            <a:pPr>
              <a:spcAft>
                <a:spcPts val="1200"/>
              </a:spcAft>
              <a:defRPr sz="1800"/>
            </a:pPr>
            <a:r>
              <a:t>✅ AI-ready architecture (fraud detection, predictions)</a:t>
            </a:r>
          </a:p>
          <a:p>
            <a:pPr>
              <a:spcAft>
                <a:spcPts val="1200"/>
              </a:spcAft>
              <a:defRPr sz="1800"/>
            </a:pPr>
            <a:r>
              <a:t>✅ Technical innovation (impossible made possible)</a:t>
            </a:r>
          </a:p>
          <a:p>
            <a:pPr>
              <a:spcAft>
                <a:spcPts val="1200"/>
              </a:spcAft>
              <a:defRPr sz="1800"/>
            </a:pPr>
            <a:r>
              <a:t>✅ Right technology choices (scalable, maintainable)</a:t>
            </a:r>
          </a:p>
          <a:p>
            <a:pPr>
              <a:spcAft>
                <a:spcPts val="1200"/>
              </a:spcAft>
              <a:defRPr sz="1800"/>
            </a:pPr>
            <a:r>
              <a:t>✅ Future-proof design (ready for growth)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🎯 SabPaisa is not just a dashboard—it's a complete business</a:t>
            </a:r>
          </a:p>
          <a:p>
            <a:pPr>
              <a:spcAft>
                <a:spcPts val="1200"/>
              </a:spcAft>
              <a:defRPr sz="1800"/>
            </a:pPr>
            <a:r>
              <a:t>intelligence platform that transforms payment data into</a:t>
            </a:r>
          </a:p>
          <a:p>
            <a:pPr>
              <a:spcAft>
                <a:spcPts val="1200"/>
              </a:spcAft>
              <a:defRPr sz="1800"/>
            </a:pPr>
            <a:r>
              <a:t>actionable insights, saving time, money, and driving growth.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💬 Common Questions:</a:t>
            </a:r>
          </a:p>
          <a:p>
            <a:pPr>
              <a:spcAft>
                <a:spcPts val="1200"/>
              </a:spcAft>
              <a:defRPr sz="1800"/>
            </a:pPr>
            <a:r>
              <a:t>• How do you handle security? → JWT, HTTPS, role-based access</a:t>
            </a:r>
          </a:p>
          <a:p>
            <a:pPr>
              <a:spcAft>
                <a:spcPts val="1200"/>
              </a:spcAft>
              <a:defRPr sz="1800"/>
            </a:pPr>
            <a:r>
              <a:t>• Scalability? → Virtual scrolling, caching, optimized APIs</a:t>
            </a:r>
          </a:p>
          <a:p>
            <a:pPr>
              <a:spcAft>
                <a:spcPts val="1200"/>
              </a:spcAft>
              <a:defRPr sz="1800"/>
            </a:pPr>
            <a:r>
              <a:t>• Integration? → RESTful API, webhooks, export capabilities</a:t>
            </a:r>
          </a:p>
          <a:p>
            <a:pPr>
              <a:spcAft>
                <a:spcPts val="1200"/>
              </a:spcAft>
              <a:defRPr sz="1800"/>
            </a:pPr>
            <a:r>
              <a:t>• Onboarding time? → 15 minutes, intuitive UI</a:t>
            </a:r>
          </a:p>
          <a:p>
            <a:pPr>
              <a:spcAft>
                <a:spcPts val="1200"/>
              </a:spcAft>
              <a:defRPr sz="1800"/>
            </a:pPr>
            <a:r>
              <a:t>• Failed transactions? → Real-time alerts, quick refunds</a:t>
            </a:r>
          </a:p>
          <a:p>
            <a:pPr>
              <a:spcAft>
                <a:spcPts val="1200"/>
              </a:spcAft>
              <a:defRPr sz="1800"/>
            </a:pPr>
            <a:r>
              <a:t>• Data privacy? → GDPR compliant, secure storage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🙋 Open Discussion - Your Questions?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976D2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24242"/>
                </a:solidFill>
              </a:defRPr>
            </a:pPr>
            <a:r>
              <a:t>Let's Transform Payment Management Together</a:t>
            </a:r>
          </a:p>
          <a:p/>
          <a:p>
            <a:r>
              <a:t>📧 support@sabpaisa.com | 🌐 sabpaisa.in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